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73152" cy="2926080"/>
          </a:xfrm>
          <a:prstGeom prst="rect">
            <a:avLst/>
          </a:prstGeom>
          <a:solidFill>
            <a:srgbClr val="C5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10058400" cy="1828800"/>
          </a:xfrm>
          <a:prstGeom prst="rect">
            <a:avLst/>
          </a:prstGeom>
          <a:noFill/>
        </p:spPr>
        <p:txBody>
          <a:bodyPr wrap="square" lIns="0" rIns="0" tIns="0" bIns="0">
            <a:spAutoFit/>
          </a:bodyPr>
          <a:lstStyle/>
          <a:p>
            <a:pPr>
              <a:defRPr sz="4400" b="1">
                <a:solidFill>
                  <a:srgbClr val="C5A059"/>
                </a:solidFill>
                <a:latin typeface="Arial"/>
              </a:defRPr>
            </a:pPr>
            <a:r>
              <a:t>CANTINA PRIVILEGE ERP</a:t>
            </a:r>
          </a:p>
          <a:p>
            <a:pPr>
              <a:spcBef>
                <a:spcPts val="1000"/>
              </a:spcBef>
              <a:defRPr sz="2200">
                <a:solidFill>
                  <a:srgbClr val="FFFFFF"/>
                </a:solidFill>
                <a:latin typeface="Arial"/>
              </a:defRPr>
            </a:pPr>
            <a:r>
              <a:t>Manuale Utente &amp; Presentazione Funzionale di Sistema</a:t>
            </a:r>
          </a:p>
        </p:txBody>
      </p:sp>
      <p:sp>
        <p:nvSpPr>
          <p:cNvPr id="5" name="TextBox 4"/>
          <p:cNvSpPr txBox="1"/>
          <p:nvPr/>
        </p:nvSpPr>
        <p:spPr>
          <a:xfrm>
            <a:off x="1097280" y="3840480"/>
            <a:ext cx="9601200" cy="1371600"/>
          </a:xfrm>
          <a:prstGeom prst="rect">
            <a:avLst/>
          </a:prstGeom>
          <a:noFill/>
        </p:spPr>
        <p:txBody>
          <a:bodyPr wrap="square" lIns="0" rIns="0" tIns="0" bIns="0">
            <a:spAutoFit/>
          </a:bodyPr>
          <a:lstStyle/>
          <a:p>
            <a:pPr>
              <a:spcBef>
                <a:spcPts val="1000"/>
              </a:spcBef>
              <a:defRPr sz="1400">
                <a:solidFill>
                  <a:srgbClr val="A1A1AA"/>
                </a:solidFill>
                <a:latin typeface="Arial"/>
              </a:defRPr>
            </a:pPr>
            <a:r>
              <a:t>Una panoramica completa di tutti i moduli dell'ERP su misura per il settore vinicolo, con doppia interfaccia d'uso: il tema Executive Dark-Gold per la gestione cantina e la vista ad alta densità Gestione Classica (stile Invoicex) per l'amministrazione ordinaria.</a:t>
            </a:r>
          </a:p>
        </p:txBody>
      </p:sp>
      <p:sp>
        <p:nvSpPr>
          <p:cNvPr id="6" name="TextBox 5"/>
          <p:cNvSpPr txBox="1"/>
          <p:nvPr/>
        </p:nvSpPr>
        <p:spPr>
          <a:xfrm>
            <a:off x="1097280" y="5669280"/>
            <a:ext cx="10058400" cy="457200"/>
          </a:xfrm>
          <a:prstGeom prst="rect">
            <a:avLst/>
          </a:prstGeom>
          <a:noFill/>
        </p:spPr>
        <p:txBody>
          <a:bodyPr wrap="none">
            <a:spAutoFit/>
          </a:bodyPr>
          <a:lstStyle/>
          <a:p>
            <a:pPr>
              <a:defRPr sz="1100" b="1">
                <a:solidFill>
                  <a:srgbClr val="C5A059"/>
                </a:solidFill>
                <a:latin typeface="Arial"/>
              </a:defRPr>
            </a:pPr>
            <a:r>
              <a:t>Proprietà Intellettuale &amp; Sviluppo: © Alesx99  |  Versione ERP 2.0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64748B"/>
                </a:solidFill>
                <a:latin typeface="Arial"/>
              </a:defRPr>
            </a:pPr>
            <a:r>
              <a:t>PANORAMICA DI SISTEMA</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1E293B"/>
                </a:solidFill>
                <a:latin typeface="Arial"/>
              </a:defRPr>
            </a:pPr>
            <a:r>
              <a:t>Architettura dei Moduli Gestionali</a:t>
            </a:r>
          </a:p>
        </p:txBody>
      </p:sp>
      <p:sp>
        <p:nvSpPr>
          <p:cNvPr id="5" name="Rounded Rectangle 4"/>
          <p:cNvSpPr/>
          <p:nvPr/>
        </p:nvSpPr>
        <p:spPr>
          <a:xfrm>
            <a:off x="731520" y="1645920"/>
            <a:ext cx="512064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bIns="365760"/>
          <a:lstStyle/>
          <a:p>
            <a:pPr algn="ctr">
              <a:spcAft>
                <a:spcPts val="1400"/>
              </a:spcAft>
              <a:defRPr sz="1800" b="1">
                <a:solidFill>
                  <a:srgbClr val="C5A059"/>
                </a:solidFill>
                <a:latin typeface="Arial"/>
              </a:defRPr>
            </a:pPr>
            <a:r>
              <a:t>1. TEMA EXECUTIVE (SCURO-ORO)</a:t>
            </a:r>
          </a:p>
          <a:p>
            <a:pPr>
              <a:spcAft>
                <a:spcPts val="1000"/>
              </a:spcAft>
              <a:defRPr sz="1200">
                <a:solidFill>
                  <a:srgbClr val="FFFFFF"/>
                </a:solidFill>
                <a:latin typeface="Arial"/>
              </a:defRPr>
            </a:pPr>
            <a:r>
              <a:t>• Dashboard Commerciale: Monitoraggio in tempo reale del fatturato e del valore totale del magazzino.</a:t>
            </a:r>
          </a:p>
          <a:p>
            <a:pPr>
              <a:spcAft>
                <a:spcPts val="1000"/>
              </a:spcAft>
              <a:defRPr sz="1200">
                <a:solidFill>
                  <a:srgbClr val="FFFFFF"/>
                </a:solidFill>
                <a:latin typeface="Arial"/>
              </a:defRPr>
            </a:pPr>
            <a:r>
              <a:t>• Giacenze Vini: Organizzazione su misura con filtri dedicati per Annata e Formato bottiglia (da 0.375L a Magnum).</a:t>
            </a:r>
          </a:p>
          <a:p>
            <a:pPr>
              <a:spcAft>
                <a:spcPts val="1000"/>
              </a:spcAft>
              <a:defRPr sz="1200">
                <a:solidFill>
                  <a:srgbClr val="FFFFFF"/>
                </a:solidFill>
                <a:latin typeface="Arial"/>
              </a:defRPr>
            </a:pPr>
            <a:r>
              <a:t>• Regole di Prezzo Flessibili: Scelta tra calcolo automatico della formula (Costo + Ricarico + IVA) o inserimento manuale.</a:t>
            </a:r>
          </a:p>
          <a:p>
            <a:pPr>
              <a:spcAft>
                <a:spcPts val="1000"/>
              </a:spcAft>
              <a:defRPr sz="1200">
                <a:solidFill>
                  <a:srgbClr val="FFFFFF"/>
                </a:solidFill>
                <a:latin typeface="Arial"/>
              </a:defRPr>
            </a:pPr>
            <a:r>
              <a:t>• Anagrafiche Clienti/Fornitori: Validazione fiscale istantanea (Zod) e associazione automatica a listini personalizzati.</a:t>
            </a:r>
          </a:p>
        </p:txBody>
      </p:sp>
      <p:sp>
        <p:nvSpPr>
          <p:cNvPr id="6" name="Rounded Rectangle 5"/>
          <p:cNvSpPr/>
          <p:nvPr/>
        </p:nvSpPr>
        <p:spPr>
          <a:xfrm>
            <a:off x="6309360" y="1645920"/>
            <a:ext cx="5120640" cy="4389120"/>
          </a:xfrm>
          <a:prstGeom prst="roundRect">
            <a:avLst/>
          </a:prstGeom>
          <a:solidFill>
            <a:srgbClr val="FFFFFF"/>
          </a:solidFill>
          <a:ln w="1905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bIns="365760"/>
          <a:lstStyle/>
          <a:p>
            <a:pPr algn="ctr">
              <a:spcAft>
                <a:spcPts val="1400"/>
              </a:spcAft>
              <a:defRPr sz="1800" b="1">
                <a:solidFill>
                  <a:srgbClr val="1E293B"/>
                </a:solidFill>
                <a:latin typeface="Arial"/>
              </a:defRPr>
            </a:pPr>
            <a:r>
              <a:t>2. GESTIONE CLASSICA (BLU-GRIGIO)</a:t>
            </a:r>
          </a:p>
          <a:p>
            <a:pPr>
              <a:spcAft>
                <a:spcPts val="1000"/>
              </a:spcAft>
              <a:defRPr sz="1200">
                <a:solidFill>
                  <a:srgbClr val="1E293B"/>
                </a:solidFill>
                <a:latin typeface="Arial"/>
              </a:defRPr>
            </a:pPr>
            <a:r>
              <a:t>• Ciclo Attivo: Workflow di conversione preventivo &gt; ordine &gt; DDT &gt; fatturazione differita con accorpamento righe.</a:t>
            </a:r>
          </a:p>
          <a:p>
            <a:pPr>
              <a:spcAft>
                <a:spcPts val="1000"/>
              </a:spcAft>
              <a:defRPr sz="1200">
                <a:solidFill>
                  <a:srgbClr val="1E293B"/>
                </a:solidFill>
                <a:latin typeface="Arial"/>
              </a:defRPr>
            </a:pPr>
            <a:r>
              <a:t>• Ciclo Passivo &amp; Import XML: Trascina le fatture XML dei fornitori per creare anagrafiche e aggiornare lo stock.</a:t>
            </a:r>
          </a:p>
          <a:p>
            <a:pPr>
              <a:spcAft>
                <a:spcPts val="1000"/>
              </a:spcAft>
              <a:defRPr sz="1200">
                <a:solidFill>
                  <a:srgbClr val="1E293B"/>
                </a:solidFill>
                <a:latin typeface="Arial"/>
              </a:defRPr>
            </a:pPr>
            <a:r>
              <a:t>• Tesoreria &amp; SEPA: Generazione file XML CBI (pain.008) per addebiti diretti e solleciti automatici via mail.</a:t>
            </a:r>
          </a:p>
          <a:p>
            <a:pPr>
              <a:spcAft>
                <a:spcPts val="1000"/>
              </a:spcAft>
              <a:defRPr sz="1200">
                <a:solidFill>
                  <a:srgbClr val="1E293B"/>
                </a:solidFill>
                <a:latin typeface="Arial"/>
              </a:defRPr>
            </a:pPr>
            <a:r>
              <a:t>• Contabilità &amp; Esportazione Studio: Prima Nota strutturata a 3 livelli, Liquidazione IVA ed export TeamSystem/Profis/Datev.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C5A059"/>
                </a:solidFill>
                <a:latin typeface="Arial"/>
              </a:defRPr>
            </a:pPr>
            <a:r>
              <a:t>MODULO CANTINA - EXECUTIVE</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FFFFFF"/>
                </a:solidFill>
                <a:latin typeface="Arial"/>
              </a:defRPr>
            </a:pPr>
            <a:r>
              <a:t>Dashboard Executive &amp; Statistiche di Vendita</a:t>
            </a:r>
          </a:p>
        </p:txBody>
      </p:sp>
      <p:sp>
        <p:nvSpPr>
          <p:cNvPr id="5" name="TextBox 4"/>
          <p:cNvSpPr txBox="1"/>
          <p:nvPr/>
        </p:nvSpPr>
        <p:spPr>
          <a:xfrm>
            <a:off x="731520" y="1645920"/>
            <a:ext cx="5029200" cy="4572000"/>
          </a:xfrm>
          <a:prstGeom prst="rect">
            <a:avLst/>
          </a:prstGeom>
          <a:noFill/>
        </p:spPr>
        <p:txBody>
          <a:bodyPr wrap="square" lIns="0" rIns="0" tIns="0" bIns="0">
            <a:spAutoFit/>
          </a:bodyPr>
          <a:lstStyle/>
          <a:p>
            <a:pPr>
              <a:spcBef>
                <a:spcPts val="1000"/>
              </a:spcBef>
              <a:defRPr sz="1600" b="1">
                <a:solidFill>
                  <a:srgbClr val="C5A059"/>
                </a:solidFill>
                <a:latin typeface="Arial"/>
              </a:defRPr>
            </a:pPr>
            <a:r>
              <a:t>Design Premium Scuro-Oro</a:t>
            </a:r>
          </a:p>
          <a:p>
            <a:pPr>
              <a:spcAft>
                <a:spcPts val="1200"/>
              </a:spcAft>
              <a:defRPr sz="1200">
                <a:solidFill>
                  <a:srgbClr val="A1A1AA"/>
                </a:solidFill>
                <a:latin typeface="Arial"/>
              </a:defRPr>
            </a:pPr>
            <a:r>
              <a:t>Un'interfaccia studiata per presentare le metriche aziendali in modo elegante, ideale per titolari e manager.</a:t>
            </a:r>
          </a:p>
          <a:p>
            <a:pPr>
              <a:spcBef>
                <a:spcPts val="1000"/>
              </a:spcBef>
              <a:defRPr sz="1600" b="1">
                <a:solidFill>
                  <a:srgbClr val="C5A059"/>
                </a:solidFill>
                <a:latin typeface="Arial"/>
              </a:defRPr>
            </a:pPr>
            <a:r>
              <a:t>Indicatori Chiave (KPI)</a:t>
            </a:r>
          </a:p>
          <a:p>
            <a:pPr>
              <a:spcAft>
                <a:spcPts val="1200"/>
              </a:spcAft>
              <a:defRPr sz="1200">
                <a:solidFill>
                  <a:srgbClr val="A1A1AA"/>
                </a:solidFill>
                <a:latin typeface="Arial"/>
              </a:defRPr>
            </a:pPr>
            <a:r>
              <a:t>Visualizzazione immediata del Fatturato Netto, Valore Totale del Magazzino a costo, e numero di ordini mensili.</a:t>
            </a:r>
          </a:p>
          <a:p>
            <a:pPr>
              <a:spcBef>
                <a:spcPts val="1000"/>
              </a:spcBef>
              <a:defRPr sz="1600" b="1">
                <a:solidFill>
                  <a:srgbClr val="C5A059"/>
                </a:solidFill>
                <a:latin typeface="Arial"/>
              </a:defRPr>
            </a:pPr>
            <a:r>
              <a:t>Alert Sotto Scorta</a:t>
            </a:r>
          </a:p>
          <a:p>
            <a:pPr>
              <a:spcAft>
                <a:spcPts val="1200"/>
              </a:spcAft>
              <a:defRPr sz="1200">
                <a:solidFill>
                  <a:srgbClr val="A1A1AA"/>
                </a:solidFill>
                <a:latin typeface="Arial"/>
              </a:defRPr>
            </a:pPr>
            <a:r>
              <a:t>Un sistema di monitoraggio evidenzia automaticamente i vini che sono scesi sotto la soglia minima di giacenza, aiutando a prevenire rotture di stock.</a:t>
            </a:r>
          </a:p>
          <a:p>
            <a:pPr>
              <a:spcBef>
                <a:spcPts val="1000"/>
              </a:spcBef>
              <a:defRPr sz="1600" b="1">
                <a:solidFill>
                  <a:srgbClr val="C5A059"/>
                </a:solidFill>
                <a:latin typeface="Arial"/>
              </a:defRPr>
            </a:pPr>
            <a:r>
              <a:t>Attività Recenti</a:t>
            </a:r>
          </a:p>
          <a:p>
            <a:pPr>
              <a:spcAft>
                <a:spcPts val="1200"/>
              </a:spcAft>
              <a:defRPr sz="1200">
                <a:solidFill>
                  <a:srgbClr val="A1A1AA"/>
                </a:solidFill>
                <a:latin typeface="Arial"/>
              </a:defRPr>
            </a:pPr>
            <a:r>
              <a:t>Tabella ad accesso rapido contenente gli ultimi documenti emessi o ricevuti con il loro stato (Bozza, Completato).</a:t>
            </a:r>
          </a:p>
        </p:txBody>
      </p:sp>
      <p:pic>
        <p:nvPicPr>
          <p:cNvPr id="6" name="Picture 5" descr="privilege_erp_dashboard_mockup_1779715383806.png"/>
          <p:cNvPicPr>
            <a:picLocks noChangeAspect="1"/>
          </p:cNvPicPr>
          <p:nvPr/>
        </p:nvPicPr>
        <p:blipFill>
          <a:blip r:embed="rId2"/>
          <a:stretch>
            <a:fillRect/>
          </a:stretch>
        </p:blipFill>
        <p:spPr>
          <a:xfrm>
            <a:off x="6766560" y="1645920"/>
            <a:ext cx="41148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C5A059"/>
                </a:solidFill>
                <a:latin typeface="Arial"/>
              </a:defRPr>
            </a:pPr>
            <a:r>
              <a:t>MODULO CANTINA - EXECUTIVE</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FFFFFF"/>
                </a:solidFill>
                <a:latin typeface="Arial"/>
              </a:defRPr>
            </a:pPr>
            <a:r>
              <a:t>Anagrafica Vini, Giacenze e Listini</a:t>
            </a:r>
          </a:p>
        </p:txBody>
      </p:sp>
      <p:sp>
        <p:nvSpPr>
          <p:cNvPr id="5" name="TextBox 4"/>
          <p:cNvSpPr txBox="1"/>
          <p:nvPr/>
        </p:nvSpPr>
        <p:spPr>
          <a:xfrm>
            <a:off x="731520" y="1645920"/>
            <a:ext cx="5029200" cy="4572000"/>
          </a:xfrm>
          <a:prstGeom prst="rect">
            <a:avLst/>
          </a:prstGeom>
          <a:noFill/>
        </p:spPr>
        <p:txBody>
          <a:bodyPr wrap="square" lIns="0" rIns="0" tIns="0" bIns="0">
            <a:spAutoFit/>
          </a:bodyPr>
          <a:lstStyle/>
          <a:p>
            <a:pPr>
              <a:spcBef>
                <a:spcPts val="1000"/>
              </a:spcBef>
              <a:defRPr sz="1600" b="1">
                <a:solidFill>
                  <a:srgbClr val="C5A059"/>
                </a:solidFill>
                <a:latin typeface="Arial"/>
              </a:defRPr>
            </a:pPr>
            <a:r>
              <a:t>Attributi Specifici del Settore Vinicolo</a:t>
            </a:r>
          </a:p>
          <a:p>
            <a:pPr>
              <a:spcAft>
                <a:spcPts val="1200"/>
              </a:spcAft>
              <a:defRPr sz="1200">
                <a:solidFill>
                  <a:srgbClr val="A1A1AA"/>
                </a:solidFill>
                <a:latin typeface="Arial"/>
              </a:defRPr>
            </a:pPr>
            <a:r>
              <a:t>Ogni prodotto include la gestione nativa dell'Annata (es. '2020', 'NV' non vintage) e del Formato bottiglia (0.375L, 0.75L, 1.5L Magnum).</a:t>
            </a:r>
          </a:p>
          <a:p>
            <a:pPr>
              <a:spcBef>
                <a:spcPts val="1000"/>
              </a:spcBef>
              <a:defRPr sz="1600" b="1">
                <a:solidFill>
                  <a:srgbClr val="C5A059"/>
                </a:solidFill>
                <a:latin typeface="Arial"/>
              </a:defRPr>
            </a:pPr>
            <a:r>
              <a:t>Dualità delle Regole di Prezzo</a:t>
            </a:r>
          </a:p>
          <a:p>
            <a:pPr>
              <a:spcAft>
                <a:spcPts val="1200"/>
              </a:spcAft>
              <a:defRPr sz="1200">
                <a:solidFill>
                  <a:srgbClr val="A1A1AA"/>
                </a:solidFill>
                <a:latin typeface="Arial"/>
              </a:defRPr>
            </a:pPr>
            <a:r>
              <a:t>Possibilità di impostare il prezzo di vendita in modo manuale (`is_manual_price` attivo) oppure tramite formula automatica: `Costo Base + % Ricarico + IVA`.</a:t>
            </a:r>
          </a:p>
          <a:p>
            <a:pPr>
              <a:spcBef>
                <a:spcPts val="1000"/>
              </a:spcBef>
              <a:defRPr sz="1600" b="1">
                <a:solidFill>
                  <a:srgbClr val="C5A059"/>
                </a:solidFill>
                <a:latin typeface="Arial"/>
              </a:defRPr>
            </a:pPr>
            <a:r>
              <a:t>Database Relazionale Sincronizzato</a:t>
            </a:r>
          </a:p>
          <a:p>
            <a:pPr>
              <a:spcAft>
                <a:spcPts val="1200"/>
              </a:spcAft>
              <a:defRPr sz="1200">
                <a:solidFill>
                  <a:srgbClr val="A1A1AA"/>
                </a:solidFill>
                <a:latin typeface="Arial"/>
              </a:defRPr>
            </a:pPr>
            <a:r>
              <a:t>I prezzi netti e lordi sono ricalcolati ed indicizzati a livello di database PostgreSQL per garantire la massima coerenza e prestazioni.</a:t>
            </a:r>
          </a:p>
          <a:p>
            <a:pPr>
              <a:spcBef>
                <a:spcPts val="1000"/>
              </a:spcBef>
              <a:defRPr sz="1600" b="1">
                <a:solidFill>
                  <a:srgbClr val="C5A059"/>
                </a:solidFill>
                <a:latin typeface="Arial"/>
              </a:defRPr>
            </a:pPr>
            <a:r>
              <a:t>Pulsante Duplica Rapido</a:t>
            </a:r>
          </a:p>
          <a:p>
            <a:pPr>
              <a:spcAft>
                <a:spcPts val="1200"/>
              </a:spcAft>
              <a:defRPr sz="1200">
                <a:solidFill>
                  <a:srgbClr val="A1A1AA"/>
                </a:solidFill>
                <a:latin typeface="Arial"/>
              </a:defRPr>
            </a:pPr>
            <a:r>
              <a:t>Consente di duplicare rapidamente una scheda vino esistente modificando solo l'annata o il formato, velocizzando il caricamento della cantina.</a:t>
            </a:r>
          </a:p>
        </p:txBody>
      </p:sp>
      <p:pic>
        <p:nvPicPr>
          <p:cNvPr id="6" name="Picture 5" descr="privilege_erp_magazzino_mockup_1779715406617.png"/>
          <p:cNvPicPr>
            <a:picLocks noChangeAspect="1"/>
          </p:cNvPicPr>
          <p:nvPr/>
        </p:nvPicPr>
        <p:blipFill>
          <a:blip r:embed="rId2"/>
          <a:stretch>
            <a:fillRect/>
          </a:stretch>
        </p:blipFill>
        <p:spPr>
          <a:xfrm>
            <a:off x="6766560" y="1645920"/>
            <a:ext cx="41148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64748B"/>
                </a:solidFill>
                <a:latin typeface="Arial"/>
              </a:defRPr>
            </a:pPr>
            <a:r>
              <a:t>GESTIONE CLASSICA (STILE INVOICEX)</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1E293B"/>
                </a:solidFill>
                <a:latin typeface="Arial"/>
              </a:defRPr>
            </a:pPr>
            <a:r>
              <a:t>La Vista Amministrativa Alta Densità</a:t>
            </a:r>
          </a:p>
        </p:txBody>
      </p:sp>
      <p:sp>
        <p:nvSpPr>
          <p:cNvPr id="5" name="TextBox 4"/>
          <p:cNvSpPr txBox="1"/>
          <p:nvPr/>
        </p:nvSpPr>
        <p:spPr>
          <a:xfrm>
            <a:off x="731520" y="1645920"/>
            <a:ext cx="5029200" cy="4572000"/>
          </a:xfrm>
          <a:prstGeom prst="rect">
            <a:avLst/>
          </a:prstGeom>
          <a:noFill/>
        </p:spPr>
        <p:txBody>
          <a:bodyPr wrap="square" lIns="0" rIns="0" tIns="0" bIns="0">
            <a:spAutoFit/>
          </a:bodyPr>
          <a:lstStyle/>
          <a:p>
            <a:pPr>
              <a:spcBef>
                <a:spcPts val="1000"/>
              </a:spcBef>
              <a:defRPr sz="1600" b="1">
                <a:solidFill>
                  <a:srgbClr val="1E293B"/>
                </a:solidFill>
                <a:latin typeface="Arial"/>
              </a:defRPr>
            </a:pPr>
            <a:r>
              <a:t>Interfaccia ad Alta Densità</a:t>
            </a:r>
          </a:p>
          <a:p>
            <a:pPr>
              <a:spcAft>
                <a:spcPts val="1200"/>
              </a:spcAft>
              <a:defRPr sz="1200">
                <a:solidFill>
                  <a:srgbClr val="64748B"/>
                </a:solidFill>
                <a:latin typeface="Arial"/>
              </a:defRPr>
            </a:pPr>
            <a:r>
              <a:t>Layout grigio-azzurro ottimizzato per mostrare una grande quantità di dati su una singola schermata, minimizzando lo scrolling.</a:t>
            </a:r>
          </a:p>
          <a:p>
            <a:pPr>
              <a:spcBef>
                <a:spcPts val="1000"/>
              </a:spcBef>
              <a:defRPr sz="1600" b="1">
                <a:solidFill>
                  <a:srgbClr val="1E293B"/>
                </a:solidFill>
                <a:latin typeface="Arial"/>
              </a:defRPr>
            </a:pPr>
            <a:r>
              <a:t>Struttura a Schede (Tab)</a:t>
            </a:r>
          </a:p>
          <a:p>
            <a:pPr>
              <a:spcAft>
                <a:spcPts val="1200"/>
              </a:spcAft>
              <a:defRPr sz="1200">
                <a:solidFill>
                  <a:srgbClr val="64748B"/>
                </a:solidFill>
                <a:latin typeface="Arial"/>
              </a:defRPr>
            </a:pPr>
            <a:r>
              <a:t>Navigazione immediata tra 7 moduli specializzati: Ciclo Attivo, Ciclo Passivo, Fisco, Magazzino, Tesoreria, Contabilità e Commercialista.</a:t>
            </a:r>
          </a:p>
          <a:p>
            <a:pPr>
              <a:spcBef>
                <a:spcPts val="1000"/>
              </a:spcBef>
              <a:defRPr sz="1600" b="1">
                <a:solidFill>
                  <a:srgbClr val="1E293B"/>
                </a:solidFill>
                <a:latin typeface="Arial"/>
              </a:defRPr>
            </a:pPr>
            <a:r>
              <a:t>Workflow Familiari</a:t>
            </a:r>
          </a:p>
          <a:p>
            <a:pPr>
              <a:spcAft>
                <a:spcPts val="1200"/>
              </a:spcAft>
              <a:defRPr sz="1200">
                <a:solidFill>
                  <a:srgbClr val="64748B"/>
                </a:solidFill>
                <a:latin typeface="Arial"/>
              </a:defRPr>
            </a:pPr>
            <a:r>
              <a:t>Sviluppato per gli utenti abituati ai gestionali desktop tradizionali (come Invoicex) ma con la reattività e l'accessibilità di un'applicazione web moderna.</a:t>
            </a:r>
          </a:p>
          <a:p>
            <a:pPr>
              <a:spcBef>
                <a:spcPts val="1000"/>
              </a:spcBef>
              <a:defRPr sz="1600" b="1">
                <a:solidFill>
                  <a:srgbClr val="1E293B"/>
                </a:solidFill>
                <a:latin typeface="Arial"/>
              </a:defRPr>
            </a:pPr>
            <a:r>
              <a:t>Tooltips Informativi</a:t>
            </a:r>
          </a:p>
          <a:p>
            <a:pPr>
              <a:spcAft>
                <a:spcPts val="1200"/>
              </a:spcAft>
              <a:defRPr sz="1200">
                <a:solidFill>
                  <a:srgbClr val="64748B"/>
                </a:solidFill>
                <a:latin typeface="Arial"/>
              </a:defRPr>
            </a:pPr>
            <a:r>
              <a:t>Ogni sezione include piccoli pulsanti di aiuto '?' che spiegano chiaramente all'utente le regole contabili e operative del modulo.</a:t>
            </a:r>
          </a:p>
        </p:txBody>
      </p:sp>
      <p:pic>
        <p:nvPicPr>
          <p:cNvPr id="6" name="Picture 5" descr="privilege_erp_classic_mockup_1779715426002.png"/>
          <p:cNvPicPr>
            <a:picLocks noChangeAspect="1"/>
          </p:cNvPicPr>
          <p:nvPr/>
        </p:nvPicPr>
        <p:blipFill>
          <a:blip r:embed="rId2"/>
          <a:stretch>
            <a:fillRect/>
          </a:stretch>
        </p:blipFill>
        <p:spPr>
          <a:xfrm>
            <a:off x="6766560" y="1645920"/>
            <a:ext cx="411480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64748B"/>
                </a:solidFill>
                <a:latin typeface="Arial"/>
              </a:defRPr>
            </a:pPr>
            <a:r>
              <a:t>CICLO VENDITE</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1E293B"/>
                </a:solidFill>
                <a:latin typeface="Arial"/>
              </a:defRPr>
            </a:pPr>
            <a:r>
              <a:t>Ciclo Attivo e Workflow di Conversione</a:t>
            </a:r>
          </a:p>
        </p:txBody>
      </p:sp>
      <p:sp>
        <p:nvSpPr>
          <p:cNvPr id="5" name="Rounded Rectangle 4"/>
          <p:cNvSpPr/>
          <p:nvPr/>
        </p:nvSpPr>
        <p:spPr>
          <a:xfrm>
            <a:off x="731520" y="1645920"/>
            <a:ext cx="3291840" cy="4389120"/>
          </a:xfrm>
          <a:prstGeom prst="roundRect">
            <a:avLst/>
          </a:prstGeom>
          <a:solidFill>
            <a:srgbClr val="FFFFFF"/>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1600" b="1">
                <a:solidFill>
                  <a:srgbClr val="1E293B"/>
                </a:solidFill>
                <a:latin typeface="Arial"/>
              </a:defRPr>
            </a:pPr>
            <a:r>
              <a:t>1. DOCUMENTI VENDITE</a:t>
            </a:r>
          </a:p>
          <a:p>
            <a:pPr>
              <a:spcAft>
                <a:spcPts val="800"/>
              </a:spcAft>
              <a:defRPr sz="1200">
                <a:solidFill>
                  <a:srgbClr val="64748B"/>
                </a:solidFill>
                <a:latin typeface="Arial"/>
              </a:defRPr>
            </a:pPr>
            <a:r>
              <a:t>• Preventivi: Redazione veloce delle offerte commerciali per i clienti.</a:t>
            </a:r>
          </a:p>
          <a:p>
            <a:pPr>
              <a:spcAft>
                <a:spcPts val="800"/>
              </a:spcAft>
              <a:defRPr sz="1200">
                <a:solidFill>
                  <a:srgbClr val="64748B"/>
                </a:solidFill>
                <a:latin typeface="Arial"/>
              </a:defRPr>
            </a:pPr>
            <a:r>
              <a:t>• Ordini Clienti: Registrazione degli impegni di fornitura ricevuti.</a:t>
            </a:r>
          </a:p>
          <a:p>
            <a:pPr>
              <a:spcAft>
                <a:spcPts val="800"/>
              </a:spcAft>
              <a:defRPr sz="1200">
                <a:solidFill>
                  <a:srgbClr val="64748B"/>
                </a:solidFill>
                <a:latin typeface="Arial"/>
              </a:defRPr>
            </a:pPr>
            <a:r>
              <a:t>• DDT (Trasporto): Generazione dei documenti di trasporto per la merce.</a:t>
            </a:r>
          </a:p>
          <a:p>
            <a:pPr>
              <a:spcAft>
                <a:spcPts val="800"/>
              </a:spcAft>
              <a:defRPr sz="1200">
                <a:solidFill>
                  <a:srgbClr val="64748B"/>
                </a:solidFill>
                <a:latin typeface="Arial"/>
              </a:defRPr>
            </a:pPr>
            <a:r>
              <a:t>• Note di Credito: Emissione storni e rettifiche su fatture emesse.</a:t>
            </a:r>
          </a:p>
        </p:txBody>
      </p:sp>
      <p:sp>
        <p:nvSpPr>
          <p:cNvPr id="6" name="Rounded Rectangle 5"/>
          <p:cNvSpPr/>
          <p:nvPr/>
        </p:nvSpPr>
        <p:spPr>
          <a:xfrm>
            <a:off x="4389120" y="1645920"/>
            <a:ext cx="3291840" cy="4389120"/>
          </a:xfrm>
          <a:prstGeom prst="roundRect">
            <a:avLst/>
          </a:prstGeom>
          <a:solidFill>
            <a:srgbClr val="FFFFFF"/>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1600" b="1">
                <a:solidFill>
                  <a:srgbClr val="1E293B"/>
                </a:solidFill>
                <a:latin typeface="Arial"/>
              </a:defRPr>
            </a:pPr>
            <a:r>
              <a:t>2. CONVERSIONE FLUSSI</a:t>
            </a:r>
          </a:p>
          <a:p>
            <a:pPr>
              <a:spcAft>
                <a:spcPts val="800"/>
              </a:spcAft>
              <a:defRPr sz="1200">
                <a:solidFill>
                  <a:srgbClr val="64748B"/>
                </a:solidFill>
                <a:latin typeface="Arial"/>
              </a:defRPr>
            </a:pPr>
            <a:r>
              <a:t>• Tracciabilità Totale: Ogni documento mantiene il collegamento a quello di origine.</a:t>
            </a:r>
          </a:p>
          <a:p>
            <a:pPr>
              <a:spcAft>
                <a:spcPts val="800"/>
              </a:spcAft>
              <a:defRPr sz="1200">
                <a:solidFill>
                  <a:srgbClr val="64748B"/>
                </a:solidFill>
                <a:latin typeface="Arial"/>
              </a:defRPr>
            </a:pPr>
            <a:r>
              <a:t>• Conversione 1-a-1: Con un solo click, trasforma un Preventivo in Ordine e un Ordine in DDT.</a:t>
            </a:r>
          </a:p>
          <a:p>
            <a:pPr>
              <a:spcAft>
                <a:spcPts val="800"/>
              </a:spcAft>
              <a:defRPr sz="1200">
                <a:solidFill>
                  <a:srgbClr val="64748B"/>
                </a:solidFill>
                <a:latin typeface="Arial"/>
              </a:defRPr>
            </a:pPr>
            <a:r>
              <a:t>• Automazione Dati: Il sistema copia automaticamente righe, prezzi, sconti e dati del partner senza alcun inserimento manuale da parte dell'utente.</a:t>
            </a:r>
          </a:p>
        </p:txBody>
      </p:sp>
      <p:sp>
        <p:nvSpPr>
          <p:cNvPr id="7" name="Rounded Rectangle 6"/>
          <p:cNvSpPr/>
          <p:nvPr/>
        </p:nvSpPr>
        <p:spPr>
          <a:xfrm>
            <a:off x="8046720" y="1645920"/>
            <a:ext cx="329184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1600" b="1">
                <a:solidFill>
                  <a:srgbClr val="C5A059"/>
                </a:solidFill>
                <a:latin typeface="Arial"/>
              </a:defRPr>
            </a:pPr>
            <a:r>
              <a:t>3. FATTURA DIFFERITA</a:t>
            </a:r>
          </a:p>
          <a:p>
            <a:pPr>
              <a:spcAft>
                <a:spcPts val="800"/>
              </a:spcAft>
              <a:defRPr sz="1200">
                <a:solidFill>
                  <a:srgbClr val="FFFFFF"/>
                </a:solidFill>
                <a:latin typeface="Arial"/>
              </a:defRPr>
            </a:pPr>
            <a:r>
              <a:t>• Fatturazione di Fine Mese: Seleziona più DDT emessi per lo stesso cliente nel corso del mese.</a:t>
            </a:r>
          </a:p>
          <a:p>
            <a:pPr>
              <a:spcAft>
                <a:spcPts val="800"/>
              </a:spcAft>
              <a:defRPr sz="1200">
                <a:solidFill>
                  <a:srgbClr val="FFFFFF"/>
                </a:solidFill>
                <a:latin typeface="Arial"/>
              </a:defRPr>
            </a:pPr>
            <a:r>
              <a:t>• Accorpamento Automatico: Il sistema unifica le righe identiche dello stesso prodotto per accorciare il documento finale.</a:t>
            </a:r>
          </a:p>
          <a:p>
            <a:pPr>
              <a:spcAft>
                <a:spcPts val="800"/>
              </a:spcAft>
              <a:defRPr sz="1200">
                <a:solidFill>
                  <a:srgbClr val="FFFFFF"/>
                </a:solidFill>
                <a:latin typeface="Arial"/>
              </a:defRPr>
            </a:pPr>
            <a:r>
              <a:t>• Fattura Consolidata: Genera un'unica fattura riepilogativa differita con riferimenti chiari a tutti i DDT inclusi.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64748B"/>
                </a:solidFill>
                <a:latin typeface="Arial"/>
              </a:defRPr>
            </a:pPr>
            <a:r>
              <a:t>ACQUISTI &amp; FORNITORI</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1E293B"/>
                </a:solidFill>
                <a:latin typeface="Arial"/>
              </a:defRPr>
            </a:pPr>
            <a:r>
              <a:t>Ciclo Passivo &amp; Importazione Automatica XML</a:t>
            </a:r>
          </a:p>
        </p:txBody>
      </p:sp>
      <p:sp>
        <p:nvSpPr>
          <p:cNvPr id="5" name="TextBox 4"/>
          <p:cNvSpPr txBox="1"/>
          <p:nvPr/>
        </p:nvSpPr>
        <p:spPr>
          <a:xfrm>
            <a:off x="731520" y="1645920"/>
            <a:ext cx="5303520" cy="4572000"/>
          </a:xfrm>
          <a:prstGeom prst="rect">
            <a:avLst/>
          </a:prstGeom>
          <a:noFill/>
        </p:spPr>
        <p:txBody>
          <a:bodyPr wrap="square" lIns="0" rIns="0" tIns="0" bIns="0">
            <a:spAutoFit/>
          </a:bodyPr>
          <a:lstStyle/>
          <a:p>
            <a:pPr>
              <a:spcBef>
                <a:spcPts val="800"/>
              </a:spcBef>
              <a:defRPr sz="1500" b="1">
                <a:solidFill>
                  <a:srgbClr val="1E293B"/>
                </a:solidFill>
                <a:latin typeface="Arial"/>
              </a:defRPr>
            </a:pPr>
            <a:r>
              <a:t>Drag &amp; Drop delle Fatture XML</a:t>
            </a:r>
          </a:p>
          <a:p>
            <a:pPr>
              <a:spcAft>
                <a:spcPts val="1000"/>
              </a:spcAft>
              <a:defRPr sz="1200">
                <a:solidFill>
                  <a:srgbClr val="64748B"/>
                </a:solidFill>
                <a:latin typeface="Arial"/>
              </a:defRPr>
            </a:pPr>
            <a:r>
              <a:t>Modulo per trascinare o incollare il codice XML delle fatture elettroniche ricevute dai fornitori di merce.</a:t>
            </a:r>
          </a:p>
          <a:p>
            <a:pPr>
              <a:spcBef>
                <a:spcPts val="800"/>
              </a:spcBef>
              <a:defRPr sz="1500" b="1">
                <a:solidFill>
                  <a:srgbClr val="1E293B"/>
                </a:solidFill>
                <a:latin typeface="Arial"/>
              </a:defRPr>
            </a:pPr>
            <a:r>
              <a:t>Parser Intelligente Client-Side</a:t>
            </a:r>
          </a:p>
          <a:p>
            <a:pPr>
              <a:spcAft>
                <a:spcPts val="1000"/>
              </a:spcAft>
              <a:defRPr sz="1200">
                <a:solidFill>
                  <a:srgbClr val="64748B"/>
                </a:solidFill>
                <a:latin typeface="Arial"/>
              </a:defRPr>
            </a:pPr>
            <a:r>
              <a:t>Un motore Javascript estrae istantaneamente tutti i dati rilevanti: Anagrafica Fornitore (Partita IVA, SDI, Indirizzo), dati testata (Data, Numero, Totali) e singole righe articolo.</a:t>
            </a:r>
          </a:p>
          <a:p>
            <a:pPr>
              <a:spcBef>
                <a:spcPts val="800"/>
              </a:spcBef>
              <a:defRPr sz="1500" b="1">
                <a:solidFill>
                  <a:srgbClr val="1E293B"/>
                </a:solidFill>
                <a:latin typeface="Arial"/>
              </a:defRPr>
            </a:pPr>
            <a:r>
              <a:t>Riconoscimento Omaggi e Sconti</a:t>
            </a:r>
          </a:p>
          <a:p>
            <a:pPr>
              <a:spcAft>
                <a:spcPts val="1000"/>
              </a:spcAft>
              <a:defRPr sz="1200">
                <a:solidFill>
                  <a:srgbClr val="64748B"/>
                </a:solidFill>
                <a:latin typeface="Arial"/>
              </a:defRPr>
            </a:pPr>
            <a:r>
              <a:t>Rileva automaticamente le righe contrassegnate come omaggi con sconto del 100% o sconti in percentuale applicati sui prodotti.</a:t>
            </a:r>
          </a:p>
          <a:p>
            <a:pPr>
              <a:spcBef>
                <a:spcPts val="800"/>
              </a:spcBef>
              <a:defRPr sz="1500" b="1">
                <a:solidFill>
                  <a:srgbClr val="1E293B"/>
                </a:solidFill>
                <a:latin typeface="Arial"/>
              </a:defRPr>
            </a:pPr>
            <a:r>
              <a:t>Creazione Anagrafica &amp; Carico Stock</a:t>
            </a:r>
          </a:p>
          <a:p>
            <a:pPr>
              <a:spcAft>
                <a:spcPts val="1000"/>
              </a:spcAft>
              <a:defRPr sz="1200">
                <a:solidFill>
                  <a:srgbClr val="64748B"/>
                </a:solidFill>
                <a:latin typeface="Arial"/>
              </a:defRPr>
            </a:pPr>
            <a:r>
              <a:t>Se il fornitore o i prodotti non sono in catalogo, il sistema li crea al volo in stato Bozza. All'approvazione del documento, lo stock viene caricato automaticamente a magazzino.</a:t>
            </a:r>
          </a:p>
        </p:txBody>
      </p:sp>
      <p:sp>
        <p:nvSpPr>
          <p:cNvPr id="6" name="Rounded Rectangle 5"/>
          <p:cNvSpPr/>
          <p:nvPr/>
        </p:nvSpPr>
        <p:spPr>
          <a:xfrm>
            <a:off x="6400800" y="1645920"/>
            <a:ext cx="502920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bIns="365760"/>
          <a:lstStyle/>
          <a:p>
            <a:pPr algn="ctr">
              <a:spcAft>
                <a:spcPts val="2000"/>
              </a:spcAft>
              <a:defRPr sz="1800" b="1">
                <a:solidFill>
                  <a:srgbClr val="C5A059"/>
                </a:solidFill>
                <a:latin typeface="Arial"/>
              </a:defRPr>
            </a:pPr>
            <a:r>
              <a:t>PROCESSO DI IMPORTAZIONE XML</a:t>
            </a:r>
          </a:p>
          <a:p>
            <a:pPr>
              <a:spcAft>
                <a:spcPts val="1400"/>
              </a:spcAft>
              <a:defRPr sz="1300">
                <a:solidFill>
                  <a:srgbClr val="FFFFFF"/>
                </a:solidFill>
                <a:latin typeface="Arial"/>
              </a:defRPr>
            </a:pPr>
            <a:r>
              <a:t>1. Trascina il file XML (.xml) nella 'Import Area'.</a:t>
            </a:r>
          </a:p>
          <a:p>
            <a:pPr>
              <a:spcAft>
                <a:spcPts val="1400"/>
              </a:spcAft>
              <a:defRPr sz="1300">
                <a:solidFill>
                  <a:srgbClr val="FFFFFF"/>
                </a:solidFill>
                <a:latin typeface="Arial"/>
              </a:defRPr>
            </a:pPr>
            <a:r>
              <a:t>2. Verifica l'anteprima visuale immediata generata dal parser.</a:t>
            </a:r>
          </a:p>
          <a:p>
            <a:pPr>
              <a:spcAft>
                <a:spcPts val="1400"/>
              </a:spcAft>
              <a:defRPr sz="1300">
                <a:solidFill>
                  <a:srgbClr val="FFFFFF"/>
                </a:solidFill>
                <a:latin typeface="Arial"/>
              </a:defRPr>
            </a:pPr>
            <a:r>
              <a:t>3. Clicca su 'Salva come Bozza' per creare partner/prodotti mancanti.</a:t>
            </a:r>
          </a:p>
          <a:p>
            <a:pPr>
              <a:spcAft>
                <a:spcPts val="1400"/>
              </a:spcAft>
              <a:defRPr sz="1300">
                <a:solidFill>
                  <a:srgbClr val="FFFFFF"/>
                </a:solidFill>
                <a:latin typeface="Arial"/>
              </a:defRPr>
            </a:pPr>
            <a:r>
              <a:t>4. Apri la fattura in bozza nei Documenti e clicca su 'Approva e Carica Stock'.</a:t>
            </a:r>
          </a:p>
          <a:p>
            <a:pPr>
              <a:spcAft>
                <a:spcPts val="1400"/>
              </a:spcAft>
              <a:defRPr sz="1300">
                <a:solidFill>
                  <a:srgbClr val="FFFFFF"/>
                </a:solidFill>
                <a:latin typeface="Arial"/>
              </a:defRPr>
            </a:pPr>
            <a:r>
              <a:t>5. I prodotti vengono inseriti a magazzino e lo stock incrementato.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64748B"/>
                </a:solidFill>
                <a:latin typeface="Arial"/>
              </a:defRPr>
            </a:pPr>
            <a:r>
              <a:t>TESORERIA &amp; FISCO</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1E293B"/>
                </a:solidFill>
                <a:latin typeface="Arial"/>
              </a:defRPr>
            </a:pPr>
            <a:r>
              <a:t>Tesoreria, Flussi SEPA e Adempimenti Fiscali</a:t>
            </a:r>
          </a:p>
        </p:txBody>
      </p:sp>
      <p:sp>
        <p:nvSpPr>
          <p:cNvPr id="5" name="Rounded Rectangle 4"/>
          <p:cNvSpPr/>
          <p:nvPr/>
        </p:nvSpPr>
        <p:spPr>
          <a:xfrm>
            <a:off x="731520" y="1645920"/>
            <a:ext cx="10698480" cy="201168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600" b="1">
                <a:solidFill>
                  <a:srgbClr val="1E293B"/>
                </a:solidFill>
                <a:latin typeface="Arial"/>
              </a:defRPr>
            </a:pPr>
            <a:r>
              <a:t>TESORERIA E INCASSI AUTOMATICI</a:t>
            </a:r>
          </a:p>
          <a:p>
            <a:pPr>
              <a:spcAft>
                <a:spcPts val="400"/>
              </a:spcAft>
              <a:defRPr sz="1100">
                <a:solidFill>
                  <a:srgbClr val="64748B"/>
                </a:solidFill>
                <a:latin typeface="Arial"/>
              </a:defRPr>
            </a:pPr>
            <a:r>
              <a:t>• Generazione SEPA Direct Debit (pain.008): Modulo per esportare il file XML conforme allo standard interbancario CBI. Consente di inviare massivamente in banca le disposizioni di addebito diretto in conto corrente per le fatture emesse.</a:t>
            </a:r>
          </a:p>
          <a:p>
            <a:pPr>
              <a:defRPr sz="1100">
                <a:solidFill>
                  <a:srgbClr val="64748B"/>
                </a:solidFill>
                <a:latin typeface="Arial"/>
              </a:defRPr>
            </a:pPr>
            <a:r>
              <a:t>• Sollecito Insoluti via Email: Generatore automatico di testi di sollecito con i dettagli delle scadenze insolute. Permette di copiare il testo pre-compilato o inviare una mail di notifica al cliente con un click.</a:t>
            </a:r>
          </a:p>
        </p:txBody>
      </p:sp>
      <p:sp>
        <p:nvSpPr>
          <p:cNvPr id="6" name="Rounded Rectangle 5"/>
          <p:cNvSpPr/>
          <p:nvPr/>
        </p:nvSpPr>
        <p:spPr>
          <a:xfrm>
            <a:off x="731520" y="3931920"/>
            <a:ext cx="10698480" cy="2103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600" b="1">
                <a:solidFill>
                  <a:srgbClr val="1E293B"/>
                </a:solidFill>
                <a:latin typeface="Arial"/>
              </a:defRPr>
            </a:pPr>
            <a:r>
              <a:t>FISCALITÀ E FATTURAZIONE ELETTRONICA ATTIVA</a:t>
            </a:r>
          </a:p>
          <a:p>
            <a:pPr>
              <a:spcAft>
                <a:spcPts val="400"/>
              </a:spcAft>
              <a:defRPr sz="1100">
                <a:solidFill>
                  <a:srgbClr val="64748B"/>
                </a:solidFill>
                <a:latin typeface="Arial"/>
              </a:defRPr>
            </a:pPr>
            <a:r>
              <a:t>• Calcolatore Ritenute &amp; Contributi: Gestione dei calcoli per ritenuta d'acconto, contributi previdenziali (INPS, Cassa Professionisti) e rivalse, fondamentale per le fatture di professionisti o agenti.</a:t>
            </a:r>
          </a:p>
          <a:p>
            <a:pPr>
              <a:spcAft>
                <a:spcPts val="400"/>
              </a:spcAft>
              <a:defRPr sz="1100">
                <a:solidFill>
                  <a:srgbClr val="64748B"/>
                </a:solidFill>
                <a:latin typeface="Arial"/>
              </a:defRPr>
            </a:pPr>
            <a:r>
              <a:t>• Esportazione XML SdI: Generazione e visualizzazione del tracciato XML conforme alle specifiche tecniche del Sistema di Interscambio (Fattura Elettronica attiva) per l'invio all'Agenzia delle Entrate.</a:t>
            </a:r>
          </a:p>
          <a:p>
            <a:pPr>
              <a:defRPr sz="1100">
                <a:solidFill>
                  <a:srgbClr val="64748B"/>
                </a:solidFill>
                <a:latin typeface="Arial"/>
              </a:defRPr>
            </a:pPr>
            <a:r>
              <a:t>• Tabella Natura Esenzione IVA: Configurazione integrata dei codici natura IVA (es. N2.1, N4) per la corretta fatturazione in regime di esenzione o non imponibilità.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64748B"/>
                </a:solidFill>
                <a:latin typeface="Arial"/>
              </a:defRPr>
            </a:pPr>
            <a:r>
              <a:t>CONTABILITÀ</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1E293B"/>
                </a:solidFill>
                <a:latin typeface="Arial"/>
              </a:defRPr>
            </a:pPr>
            <a:r>
              <a:t>Contabilità Interna, Liquidazione IVA e Prima Nota</a:t>
            </a:r>
          </a:p>
        </p:txBody>
      </p:sp>
      <p:sp>
        <p:nvSpPr>
          <p:cNvPr id="5" name="TextBox 4"/>
          <p:cNvSpPr txBox="1"/>
          <p:nvPr/>
        </p:nvSpPr>
        <p:spPr>
          <a:xfrm>
            <a:off x="731520" y="1645920"/>
            <a:ext cx="5029200" cy="4572000"/>
          </a:xfrm>
          <a:prstGeom prst="rect">
            <a:avLst/>
          </a:prstGeom>
          <a:noFill/>
        </p:spPr>
        <p:txBody>
          <a:bodyPr wrap="square" lIns="0" rIns="0" tIns="0" bIns="0">
            <a:spAutoFit/>
          </a:bodyPr>
          <a:lstStyle/>
          <a:p>
            <a:pPr>
              <a:spcBef>
                <a:spcPts val="800"/>
              </a:spcBef>
              <a:defRPr sz="1500" b="1">
                <a:solidFill>
                  <a:srgbClr val="1E293B"/>
                </a:solidFill>
                <a:latin typeface="Arial"/>
              </a:defRPr>
            </a:pPr>
            <a:r>
              <a:t>Prima Nota Cassa e Banca</a:t>
            </a:r>
          </a:p>
          <a:p>
            <a:pPr>
              <a:spcAft>
                <a:spcPts val="1000"/>
              </a:spcAft>
              <a:defRPr sz="1200">
                <a:solidFill>
                  <a:srgbClr val="64748B"/>
                </a:solidFill>
                <a:latin typeface="Arial"/>
              </a:defRPr>
            </a:pPr>
            <a:r>
              <a:t>Modulo per la registrazione ordinata delle transazioni finanziarie in entrata e in uscita, strutturato a 3 livelli: Gruppo, Conto e Sottoconto.</a:t>
            </a:r>
          </a:p>
          <a:p>
            <a:pPr>
              <a:spcBef>
                <a:spcPts val="800"/>
              </a:spcBef>
              <a:defRPr sz="1500" b="1">
                <a:solidFill>
                  <a:srgbClr val="1E293B"/>
                </a:solidFill>
                <a:latin typeface="Arial"/>
              </a:defRPr>
            </a:pPr>
            <a:r>
              <a:t>Organizzazione dei Sottoconti</a:t>
            </a:r>
          </a:p>
          <a:p>
            <a:pPr>
              <a:spcAft>
                <a:spcPts val="1000"/>
              </a:spcAft>
              <a:defRPr sz="1200">
                <a:solidFill>
                  <a:srgbClr val="64748B"/>
                </a:solidFill>
                <a:latin typeface="Arial"/>
              </a:defRPr>
            </a:pPr>
            <a:r>
              <a:t>Consente di categorizzare con precisione ogni transazione (es. Cassa Contanti, Banca Intesa C/C, Costi di Trasporto, Vendite Italia) per una reportistica accurata.</a:t>
            </a:r>
          </a:p>
          <a:p>
            <a:pPr>
              <a:spcBef>
                <a:spcPts val="800"/>
              </a:spcBef>
              <a:defRPr sz="1500" b="1">
                <a:solidFill>
                  <a:srgbClr val="1E293B"/>
                </a:solidFill>
                <a:latin typeface="Arial"/>
              </a:defRPr>
            </a:pPr>
            <a:r>
              <a:t>Liquidazione IVA Periodica</a:t>
            </a:r>
          </a:p>
          <a:p>
            <a:pPr>
              <a:spcAft>
                <a:spcPts val="1000"/>
              </a:spcAft>
              <a:defRPr sz="1200">
                <a:solidFill>
                  <a:srgbClr val="64748B"/>
                </a:solidFill>
                <a:latin typeface="Arial"/>
              </a:defRPr>
            </a:pPr>
            <a:r>
              <a:t>Simulatore integrato che calcola automaticamente il debito o credito IVA del periodo (mensile o trimestrale), sommando l'IVA a debito sulle vendite e detraendo l'IVA a credito sugli acquisti.</a:t>
            </a:r>
          </a:p>
          <a:p>
            <a:pPr>
              <a:spcBef>
                <a:spcPts val="800"/>
              </a:spcBef>
              <a:defRPr sz="1500" b="1">
                <a:solidFill>
                  <a:srgbClr val="1E293B"/>
                </a:solidFill>
                <a:latin typeface="Arial"/>
              </a:defRPr>
            </a:pPr>
            <a:r>
              <a:t>Verifica Cassa/Banca</a:t>
            </a:r>
          </a:p>
          <a:p>
            <a:pPr>
              <a:spcAft>
                <a:spcPts val="1000"/>
              </a:spcAft>
              <a:defRPr sz="1200">
                <a:solidFill>
                  <a:srgbClr val="64748B"/>
                </a:solidFill>
                <a:latin typeface="Arial"/>
              </a:defRPr>
            </a:pPr>
            <a:r>
              <a:t>Pannello per verificare la quadratura dei saldi contabili con gli estratti conto reali.</a:t>
            </a:r>
          </a:p>
        </p:txBody>
      </p:sp>
      <p:pic>
        <p:nvPicPr>
          <p:cNvPr id="6" name="Picture 5" descr="privilege_erp_prima_nota_mockup_1779715450179.png"/>
          <p:cNvPicPr>
            <a:picLocks noChangeAspect="1"/>
          </p:cNvPicPr>
          <p:nvPr/>
        </p:nvPicPr>
        <p:blipFill>
          <a:blip r:embed="rId2"/>
          <a:stretch>
            <a:fillRect/>
          </a:stretch>
        </p:blipFill>
        <p:spPr>
          <a:xfrm>
            <a:off x="6766560" y="1645920"/>
            <a:ext cx="4114800" cy="4114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64748B"/>
                </a:solidFill>
                <a:latin typeface="Arial"/>
              </a:defRPr>
            </a:pPr>
            <a:r>
              <a:t>INTEGRAZIONE ESTERNA</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1E293B"/>
                </a:solidFill>
                <a:latin typeface="Arial"/>
              </a:defRPr>
            </a:pPr>
            <a:r>
              <a:t>Area Commercialista ed Esportazione Dati</a:t>
            </a:r>
          </a:p>
        </p:txBody>
      </p:sp>
      <p:sp>
        <p:nvSpPr>
          <p:cNvPr id="5" name="Rounded Rectangle 4"/>
          <p:cNvSpPr/>
          <p:nvPr/>
        </p:nvSpPr>
        <p:spPr>
          <a:xfrm>
            <a:off x="731520" y="1645920"/>
            <a:ext cx="2468880" cy="4389120"/>
          </a:xfrm>
          <a:prstGeom prst="roundRect">
            <a:avLst/>
          </a:prstGeom>
          <a:solidFill>
            <a:srgbClr val="FFFFFF"/>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400"/>
              </a:spcAft>
              <a:defRPr sz="1600" b="1">
                <a:solidFill>
                  <a:srgbClr val="1E293B"/>
                </a:solidFill>
                <a:latin typeface="Arial"/>
              </a:defRPr>
            </a:pPr>
            <a:r>
              <a:t>TEAMSYSTEM</a:t>
            </a:r>
          </a:p>
          <a:p>
            <a:pPr>
              <a:defRPr sz="1100">
                <a:solidFill>
                  <a:srgbClr val="64748B"/>
                </a:solidFill>
                <a:latin typeface="Arial"/>
              </a:defRPr>
            </a:pPr>
            <a:r>
              <a:t>Generazione automatica del file in formato proprietario `.fatseq` per l'importazione diretta delle fatture attive e passive nel software TeamSystem dello studio commerciale.</a:t>
            </a:r>
          </a:p>
        </p:txBody>
      </p:sp>
      <p:sp>
        <p:nvSpPr>
          <p:cNvPr id="6" name="Rounded Rectangle 5"/>
          <p:cNvSpPr/>
          <p:nvPr/>
        </p:nvSpPr>
        <p:spPr>
          <a:xfrm>
            <a:off x="3474720" y="1645920"/>
            <a:ext cx="2468880" cy="4389120"/>
          </a:xfrm>
          <a:prstGeom prst="roundRect">
            <a:avLst/>
          </a:prstGeom>
          <a:solidFill>
            <a:srgbClr val="FFFFFF"/>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400"/>
              </a:spcAft>
              <a:defRPr sz="1600" b="1">
                <a:solidFill>
                  <a:srgbClr val="1E293B"/>
                </a:solidFill>
                <a:latin typeface="Arial"/>
              </a:defRPr>
            </a:pPr>
            <a:r>
              <a:t>PROFIS / SISTEMI</a:t>
            </a:r>
          </a:p>
          <a:p>
            <a:pPr>
              <a:defRPr sz="1100">
                <a:solidFill>
                  <a:srgbClr val="64748B"/>
                </a:solidFill>
                <a:latin typeface="Arial"/>
              </a:defRPr>
            </a:pPr>
            <a:r>
              <a:t>Esportazione delle anagrafiche dei clienti e dei registri fatture in formato CSV configurato secondo le specifiche Profis (Sistemi S.p.A.), per registrare rapidamente l'IVA ordinaria.</a:t>
            </a:r>
          </a:p>
        </p:txBody>
      </p:sp>
      <p:sp>
        <p:nvSpPr>
          <p:cNvPr id="7" name="Rounded Rectangle 6"/>
          <p:cNvSpPr/>
          <p:nvPr/>
        </p:nvSpPr>
        <p:spPr>
          <a:xfrm>
            <a:off x="6217920" y="1645920"/>
            <a:ext cx="2468880" cy="4389120"/>
          </a:xfrm>
          <a:prstGeom prst="roundRect">
            <a:avLst/>
          </a:prstGeom>
          <a:solidFill>
            <a:srgbClr val="FFFFFF"/>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400"/>
              </a:spcAft>
              <a:defRPr sz="1600" b="1">
                <a:solidFill>
                  <a:srgbClr val="1E293B"/>
                </a:solidFill>
                <a:latin typeface="Arial"/>
              </a:defRPr>
            </a:pPr>
            <a:r>
              <a:t>DATEV KASKO</a:t>
            </a:r>
          </a:p>
          <a:p>
            <a:pPr>
              <a:defRPr sz="1100">
                <a:solidFill>
                  <a:srgbClr val="64748B"/>
                </a:solidFill>
                <a:latin typeface="Arial"/>
              </a:defRPr>
            </a:pPr>
            <a:r>
              <a:t>Esportazione dei flussi in standard Datev CSV, supportato da moltissimi consulenti fiscali e studi contabili italiani ed europei per l'acquisizione dei movimenti di cassa/banca.</a:t>
            </a:r>
          </a:p>
        </p:txBody>
      </p:sp>
      <p:sp>
        <p:nvSpPr>
          <p:cNvPr id="8" name="Rounded Rectangle 7"/>
          <p:cNvSpPr/>
          <p:nvPr/>
        </p:nvSpPr>
        <p:spPr>
          <a:xfrm>
            <a:off x="8961120" y="1645920"/>
            <a:ext cx="2468880" cy="43891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400"/>
              </a:spcAft>
              <a:defRPr sz="1600" b="1">
                <a:solidFill>
                  <a:srgbClr val="C5A059"/>
                </a:solidFill>
                <a:latin typeface="Arial"/>
              </a:defRPr>
            </a:pPr>
            <a:r>
              <a:t>DOWNLOAD ZIP</a:t>
            </a:r>
          </a:p>
          <a:p>
            <a:pPr>
              <a:defRPr sz="1100">
                <a:solidFill>
                  <a:srgbClr val="FFFFFF"/>
                </a:solidFill>
                <a:latin typeface="Arial"/>
              </a:defRPr>
            </a:pPr>
            <a:r>
              <a:t>Consente di selezionare un intervallo di date ed esportare un archivio .zip contenente tutte le fatture in formato XML elettronico originale emesse nel periodo, corredato da un report PDF riepilogativo di quadratura.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C5A059"/>
                </a:solidFill>
                <a:latin typeface="Arial"/>
              </a:defRPr>
            </a:pPr>
            <a:r>
              <a:t>CONCLUSIONI</a:t>
            </a:r>
          </a:p>
        </p:txBody>
      </p:sp>
      <p:sp>
        <p:nvSpPr>
          <p:cNvPr id="4" name="TextBox 3"/>
          <p:cNvSpPr txBox="1"/>
          <p:nvPr/>
        </p:nvSpPr>
        <p:spPr>
          <a:xfrm>
            <a:off x="731520" y="640080"/>
            <a:ext cx="10698480" cy="731520"/>
          </a:xfrm>
          <a:prstGeom prst="rect">
            <a:avLst/>
          </a:prstGeom>
          <a:noFill/>
        </p:spPr>
        <p:txBody>
          <a:bodyPr wrap="square" lIns="0" rIns="0" tIns="0" bIns="0">
            <a:spAutoFit/>
          </a:bodyPr>
          <a:lstStyle/>
          <a:p>
            <a:pPr>
              <a:defRPr sz="2800" b="1">
                <a:solidFill>
                  <a:srgbClr val="FFFFFF"/>
                </a:solidFill>
                <a:latin typeface="Arial"/>
              </a:defRPr>
            </a:pPr>
            <a:r>
              <a:t>Valore ed Evoluzione del Prodotto</a:t>
            </a:r>
          </a:p>
        </p:txBody>
      </p:sp>
      <p:sp>
        <p:nvSpPr>
          <p:cNvPr id="5" name="TextBox 4"/>
          <p:cNvSpPr txBox="1"/>
          <p:nvPr/>
        </p:nvSpPr>
        <p:spPr>
          <a:xfrm>
            <a:off x="731520" y="1645920"/>
            <a:ext cx="5120640" cy="4389120"/>
          </a:xfrm>
          <a:prstGeom prst="rect">
            <a:avLst/>
          </a:prstGeom>
          <a:noFill/>
        </p:spPr>
        <p:txBody>
          <a:bodyPr wrap="square" lIns="0" rIns="0" tIns="0" bIns="0">
            <a:spAutoFit/>
          </a:bodyPr>
          <a:lstStyle/>
          <a:p>
            <a:pPr>
              <a:spcAft>
                <a:spcPts val="1200"/>
              </a:spcAft>
              <a:defRPr sz="1800" b="1">
                <a:solidFill>
                  <a:srgbClr val="C5A059"/>
                </a:solidFill>
                <a:latin typeface="Arial"/>
              </a:defRPr>
            </a:pPr>
            <a:r>
              <a:t>VALORE DEL PRODOTTO ERP</a:t>
            </a:r>
          </a:p>
          <a:p>
            <a:pPr>
              <a:spcAft>
                <a:spcPts val="1000"/>
              </a:spcAft>
              <a:defRPr sz="1200">
                <a:solidFill>
                  <a:srgbClr val="A1A1AA"/>
                </a:solidFill>
                <a:latin typeface="Arial"/>
              </a:defRPr>
            </a:pPr>
            <a:r>
              <a:t>• Fascia Essenziale (Licenza d'uso monoutente): 12.000 € – 15.000 €.</a:t>
            </a:r>
          </a:p>
          <a:p>
            <a:pPr>
              <a:spcAft>
                <a:spcPts val="1000"/>
              </a:spcAft>
              <a:defRPr sz="1200">
                <a:solidFill>
                  <a:srgbClr val="A1A1AA"/>
                </a:solidFill>
                <a:latin typeface="Arial"/>
              </a:defRPr>
            </a:pPr>
            <a:r>
              <a:t>• Fascia Enterprise (Cessione esclusiva codice e moduli avanzati): 38.000 € – 48.000 € (Consigliata per Cantina Privilege).</a:t>
            </a:r>
          </a:p>
          <a:p>
            <a:pPr>
              <a:spcAft>
                <a:spcPts val="1000"/>
              </a:spcAft>
              <a:defRPr sz="1200">
                <a:solidFill>
                  <a:srgbClr val="A1A1AA"/>
                </a:solidFill>
                <a:latin typeface="Arial"/>
              </a:defRPr>
            </a:pPr>
            <a:r>
              <a:t>• Cessione Strategica (Piattaforma SaaS Whitelabel con diritti di rivendita a terzi): 65.000 € – 80.000 €+.</a:t>
            </a:r>
          </a:p>
          <a:p>
            <a:pPr>
              <a:spcBef>
                <a:spcPts val="2000"/>
              </a:spcBef>
              <a:defRPr sz="1200">
                <a:solidFill>
                  <a:srgbClr val="FFFFFF"/>
                </a:solidFill>
                <a:latin typeface="Arial"/>
              </a:defRPr>
            </a:pPr>
            <a:r>
              <a:t>Il software garantisce un ROI immediato grazie all'abbattimento dei tempi di fatturazione differita e importazione automatica degli acquisti (zero inserimenti manuali).</a:t>
            </a:r>
          </a:p>
        </p:txBody>
      </p:sp>
      <p:sp>
        <p:nvSpPr>
          <p:cNvPr id="6" name="TextBox 5"/>
          <p:cNvSpPr txBox="1"/>
          <p:nvPr/>
        </p:nvSpPr>
        <p:spPr>
          <a:xfrm>
            <a:off x="6309360" y="1645920"/>
            <a:ext cx="5120640" cy="4389120"/>
          </a:xfrm>
          <a:prstGeom prst="rect">
            <a:avLst/>
          </a:prstGeom>
          <a:noFill/>
        </p:spPr>
        <p:txBody>
          <a:bodyPr wrap="square" lIns="0" rIns="0" tIns="0" bIns="0">
            <a:spAutoFit/>
          </a:bodyPr>
          <a:lstStyle/>
          <a:p>
            <a:pPr>
              <a:spcAft>
                <a:spcPts val="1200"/>
              </a:spcAft>
              <a:defRPr sz="1800" b="1">
                <a:solidFill>
                  <a:srgbClr val="C5A059"/>
                </a:solidFill>
                <a:latin typeface="Arial"/>
              </a:defRPr>
            </a:pPr>
            <a:r>
              <a:t>CONTRATTO DI MANUTENZIONE</a:t>
            </a:r>
          </a:p>
          <a:p>
            <a:pPr>
              <a:spcAft>
                <a:spcPts val="1000"/>
              </a:spcAft>
              <a:defRPr sz="1200">
                <a:solidFill>
                  <a:srgbClr val="A1A1AA"/>
                </a:solidFill>
                <a:latin typeface="Arial"/>
              </a:defRPr>
            </a:pPr>
            <a:r>
              <a:t>• Adeguamento Fiscale Continuo: Le specifiche tecniche SdI, doganali (e-AD/accise) e SIAN cambiano per legge. La manutenzione ordinaria assicura la conformità costante.</a:t>
            </a:r>
          </a:p>
          <a:p>
            <a:pPr>
              <a:spcAft>
                <a:spcPts val="1000"/>
              </a:spcAft>
              <a:defRPr sz="1200">
                <a:solidFill>
                  <a:srgbClr val="A1A1AA"/>
                </a:solidFill>
                <a:latin typeface="Arial"/>
              </a:defRPr>
            </a:pPr>
            <a:r>
              <a:t>• Supporto Dedicato: Assistenza per l'estrazione di file XML e risoluzione di eventuali anomalie operative.</a:t>
            </a:r>
          </a:p>
          <a:p>
            <a:pPr>
              <a:spcAft>
                <a:spcPts val="1000"/>
              </a:spcAft>
              <a:defRPr sz="1200">
                <a:solidFill>
                  <a:srgbClr val="A1A1AA"/>
                </a:solidFill>
                <a:latin typeface="Arial"/>
              </a:defRPr>
            </a:pPr>
            <a:r>
              <a:t>• Canone Consigliato: 8.000 € all'anno (circa 650 €/mese) per assistenza, aggiornamenti normativi e bugfix.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